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40eecb79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40eecb79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0eecb79a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0eecb79a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40eecb79a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40eecb79a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40eecb79a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40eecb79a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40eecb79a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40eecb79a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0eecb79a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0eecb79a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0eecb79a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0eecb79a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D9D2E9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sofa-frog/Anexis_CUP_IT/tree/main" TargetMode="External"/><Relationship Id="rId4" Type="http://schemas.openxmlformats.org/officeDocument/2006/relationships/hyperlink" Target="https://www.figma.com/design/XghsSWowfyFWObTQO0OXUo/Axenix_CUP_IT_2025?node-id=0-1&amp;m=dev&amp;t=PSQCBApE14obdhgO-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430000"/>
            <a:ext cx="85206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600">
                <a:solidFill>
                  <a:srgbClr val="FF9900"/>
                </a:solidFill>
              </a:rPr>
              <a:t>CUP-IT 2025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235450"/>
            <a:ext cx="6924600" cy="35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200">
                <a:solidFill>
                  <a:srgbClr val="FF9900"/>
                </a:solidFill>
              </a:rPr>
              <a:t>Секция:</a:t>
            </a:r>
            <a:endParaRPr b="1" sz="2200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500">
                <a:solidFill>
                  <a:srgbClr val="666666"/>
                </a:solidFill>
              </a:rPr>
              <a:t>Аналитика данных</a:t>
            </a:r>
            <a:endParaRPr sz="25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200">
                <a:solidFill>
                  <a:srgbClr val="FF9900"/>
                </a:solidFill>
              </a:rPr>
              <a:t>Кейс:</a:t>
            </a:r>
            <a:r>
              <a:rPr b="1" lang="ru" sz="2200">
                <a:solidFill>
                  <a:srgbClr val="0000FF"/>
                </a:solidFill>
              </a:rPr>
              <a:t> </a:t>
            </a:r>
            <a:endParaRPr b="1" sz="22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511">
                <a:solidFill>
                  <a:srgbClr val="666666"/>
                </a:solidFill>
              </a:rPr>
              <a:t>Разработка сервиса, который предложит пользователю несколько маршрутов поездки с учетом выбранных дат, начального и конечного пунктов, а также определенного пользователем критерия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200">
                <a:solidFill>
                  <a:srgbClr val="FF9900"/>
                </a:solidFill>
              </a:rPr>
              <a:t>Команда: </a:t>
            </a:r>
            <a:endParaRPr b="1" sz="2200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500">
                <a:solidFill>
                  <a:srgbClr val="666666"/>
                </a:solidFill>
              </a:rPr>
              <a:t>ISTeam</a:t>
            </a:r>
            <a:endParaRPr>
              <a:solidFill>
                <a:srgbClr val="666666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4400" y="4557550"/>
            <a:ext cx="2739599" cy="58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4">
            <a:alphaModFix/>
          </a:blip>
          <a:srcRect b="0" l="0" r="19491" t="0"/>
          <a:stretch/>
        </p:blipFill>
        <p:spPr>
          <a:xfrm>
            <a:off x="7569025" y="97200"/>
            <a:ext cx="1574975" cy="256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ru" sz="2400">
                <a:solidFill>
                  <a:srgbClr val="FF9900"/>
                </a:solidFill>
              </a:rPr>
              <a:t>EXECUTIVE SUMMARY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3271188" y="1133950"/>
            <a:ext cx="2723100" cy="3499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6294275" y="1133950"/>
            <a:ext cx="2723100" cy="3499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279900" y="1156175"/>
            <a:ext cx="2723100" cy="3499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2659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674EA7"/>
                </a:solidFill>
              </a:rPr>
              <a:t>Входные данные</a:t>
            </a:r>
            <a:endParaRPr b="1">
              <a:solidFill>
                <a:srgbClr val="674EA7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-"/>
            </a:pPr>
            <a:r>
              <a:rPr lang="ru" sz="1500"/>
              <a:t>Начальная и конечная точки маршрута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ru" sz="1500"/>
              <a:t>Даты поездки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ru" sz="1500"/>
              <a:t>Критерий выбора (по общему времени, по времени в дороге)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350675" y="1197725"/>
            <a:ext cx="2659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500">
                <a:solidFill>
                  <a:srgbClr val="674EA7"/>
                </a:solidFill>
              </a:rPr>
              <a:t>Процесс анализа</a:t>
            </a:r>
            <a:endParaRPr b="1" sz="4500">
              <a:solidFill>
                <a:srgbClr val="674EA7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ru" sz="3750"/>
              <a:t>Анализ существующих решений</a:t>
            </a:r>
            <a:endParaRPr sz="375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 sz="3750"/>
              <a:t>Разработка алгоритма маршрутизации</a:t>
            </a:r>
            <a:endParaRPr sz="375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 sz="3750"/>
              <a:t>Разработка алгоритма ранжирования</a:t>
            </a:r>
            <a:endParaRPr sz="375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 sz="3750"/>
              <a:t>Разработка UX/UI дизайна </a:t>
            </a:r>
            <a:endParaRPr sz="37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6357850" y="1197725"/>
            <a:ext cx="2659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674EA7"/>
                </a:solidFill>
              </a:rPr>
              <a:t>Выходные</a:t>
            </a:r>
            <a:r>
              <a:rPr b="1" lang="ru">
                <a:solidFill>
                  <a:srgbClr val="674EA7"/>
                </a:solidFill>
              </a:rPr>
              <a:t> данные</a:t>
            </a:r>
            <a:endParaRPr b="1">
              <a:solidFill>
                <a:srgbClr val="674EA7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-"/>
            </a:pPr>
            <a:r>
              <a:rPr lang="ru" sz="1500"/>
              <a:t>Программа для подбора о</a:t>
            </a:r>
            <a:r>
              <a:rPr lang="ru" sz="1500"/>
              <a:t>птимальных маршрутов с учетом критериев пользователя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ru" sz="1500"/>
              <a:t>Интерфейс сервиса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ru" sz="1500"/>
              <a:t>Интеграция с разными видами транспорта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0" y="0"/>
            <a:ext cx="929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9900"/>
                </a:solidFill>
              </a:rPr>
              <a:t>Executive summary &gt;&gt; </a:t>
            </a:r>
            <a:r>
              <a:rPr lang="ru" sz="1100">
                <a:solidFill>
                  <a:srgbClr val="666666"/>
                </a:solidFill>
              </a:rPr>
              <a:t>Анализ конкурентов  &gt;&gt; Описание алгоритма &gt;&gt; UX-дизайн &gt;&gt; Путь пользователя &gt;&gt; Перспективы &gt;&gt; Приложение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rgbClr val="FF9900"/>
                </a:solidFill>
              </a:rPr>
              <a:t>Анализ конкурентов</a:t>
            </a:r>
            <a:endParaRPr b="1" sz="2400">
              <a:solidFill>
                <a:srgbClr val="FF9900"/>
              </a:solidFill>
            </a:endParaRPr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72225" y="1108750"/>
            <a:ext cx="4383000" cy="39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ru" sz="6400">
                <a:solidFill>
                  <a:srgbClr val="674EA7"/>
                </a:solidFill>
              </a:rPr>
              <a:t>1. Яндекс.Путешествия</a:t>
            </a:r>
            <a:endParaRPr b="1" sz="6400">
              <a:solidFill>
                <a:srgbClr val="674EA7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ru" sz="5200">
                <a:solidFill>
                  <a:srgbClr val="666666"/>
                </a:solidFill>
              </a:rPr>
              <a:t>Сильные стороны:</a:t>
            </a:r>
            <a:endParaRPr b="1" sz="52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ru" sz="5200">
                <a:solidFill>
                  <a:srgbClr val="666666"/>
                </a:solidFill>
              </a:rPr>
              <a:t>Глубокая интеграция с сервисами Яндекса (Яндекс.Карты, Яндекс.Маршруты, Яндекс.Авиабилеты)</a:t>
            </a:r>
            <a:endParaRPr sz="52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ru" sz="5200">
                <a:solidFill>
                  <a:srgbClr val="666666"/>
                </a:solidFill>
              </a:rPr>
              <a:t>Поддержка различных видов транспорта (поезда, автобусы, самолёты)</a:t>
            </a:r>
            <a:endParaRPr sz="52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ru" sz="5200">
                <a:solidFill>
                  <a:srgbClr val="666666"/>
                </a:solidFill>
              </a:rPr>
              <a:t>Возможность покупки билетов прямо в сервисе</a:t>
            </a:r>
            <a:endParaRPr sz="52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ru" sz="5200">
                <a:solidFill>
                  <a:srgbClr val="666666"/>
                </a:solidFill>
              </a:rPr>
              <a:t>Развитая система рекомендаций</a:t>
            </a:r>
            <a:endParaRPr sz="52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ru" sz="5200">
                <a:solidFill>
                  <a:srgbClr val="666666"/>
                </a:solidFill>
              </a:rPr>
              <a:t>Слабые стороны:</a:t>
            </a:r>
            <a:endParaRPr b="1" sz="52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ru" sz="5200">
                <a:solidFill>
                  <a:srgbClr val="666666"/>
                </a:solidFill>
              </a:rPr>
              <a:t>Ограниченные возможности построения сложных маршрутов с пересадками</a:t>
            </a:r>
            <a:endParaRPr sz="52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ru" sz="5200">
                <a:solidFill>
                  <a:srgbClr val="666666"/>
                </a:solidFill>
              </a:rPr>
              <a:t>Нет удобного комбинирования разных видов транспорта</a:t>
            </a:r>
            <a:endParaRPr sz="52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ru" sz="5200">
                <a:solidFill>
                  <a:srgbClr val="666666"/>
                </a:solidFill>
              </a:rPr>
              <a:t>Фокус на билетных сервисах, а не на гибком маршрутизации</a:t>
            </a:r>
            <a:endParaRPr sz="52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4755225" y="1108750"/>
            <a:ext cx="3779700" cy="39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6400">
                <a:solidFill>
                  <a:srgbClr val="674EA7"/>
                </a:solidFill>
              </a:rPr>
              <a:t>2. Туту.ру</a:t>
            </a:r>
            <a:endParaRPr b="1" sz="6400">
              <a:solidFill>
                <a:srgbClr val="674EA7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ru" sz="5200">
                <a:solidFill>
                  <a:srgbClr val="666666"/>
                </a:solidFill>
              </a:rPr>
              <a:t>Сильные стороны:</a:t>
            </a:r>
            <a:endParaRPr b="1" sz="52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ru" sz="5200">
                <a:solidFill>
                  <a:srgbClr val="666666"/>
                </a:solidFill>
              </a:rPr>
              <a:t>Одна из самых полных баз расписаний транспорта в России</a:t>
            </a:r>
            <a:endParaRPr sz="52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ru" sz="5200">
                <a:solidFill>
                  <a:srgbClr val="666666"/>
                </a:solidFill>
              </a:rPr>
              <a:t>Удобный интерфейс для поиска билетов</a:t>
            </a:r>
            <a:endParaRPr sz="52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ru" sz="5200">
                <a:solidFill>
                  <a:srgbClr val="666666"/>
                </a:solidFill>
              </a:rPr>
              <a:t>Возможность покупки билетов онлайн</a:t>
            </a:r>
            <a:endParaRPr sz="52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ru" sz="5200">
                <a:solidFill>
                  <a:srgbClr val="666666"/>
                </a:solidFill>
              </a:rPr>
              <a:t>Поддержка маршрутных такси и межгородских автобусов</a:t>
            </a:r>
            <a:endParaRPr sz="52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ru" sz="5200">
                <a:solidFill>
                  <a:srgbClr val="666666"/>
                </a:solidFill>
              </a:rPr>
              <a:t>Слабые стороны:</a:t>
            </a:r>
            <a:endParaRPr b="1" sz="52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ru" sz="5200">
                <a:solidFill>
                  <a:srgbClr val="666666"/>
                </a:solidFill>
              </a:rPr>
              <a:t>Нет интеллектуального построения сложных маршрутов (поиск работает по отдельным сегментам)</a:t>
            </a:r>
            <a:endParaRPr sz="52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ru" sz="5200">
                <a:solidFill>
                  <a:srgbClr val="666666"/>
                </a:solidFill>
              </a:rPr>
              <a:t>Сложность комбинирования поездов, автобусов и авиа в едином маршруте</a:t>
            </a:r>
            <a:endParaRPr sz="52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ru" sz="5200">
                <a:solidFill>
                  <a:srgbClr val="666666"/>
                </a:solidFill>
              </a:rPr>
              <a:t>Отсутствие персонализированных рекомендаций</a:t>
            </a:r>
            <a:endParaRPr sz="52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0" y="0"/>
            <a:ext cx="929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666666"/>
                </a:solidFill>
              </a:rPr>
              <a:t>Executive summary &gt;&gt; </a:t>
            </a:r>
            <a:r>
              <a:rPr lang="ru" sz="1100">
                <a:solidFill>
                  <a:srgbClr val="FF9900"/>
                </a:solidFill>
              </a:rPr>
              <a:t>Анализ конкурентов  &gt;&gt; </a:t>
            </a:r>
            <a:r>
              <a:rPr lang="ru" sz="1100">
                <a:solidFill>
                  <a:srgbClr val="666666"/>
                </a:solidFill>
              </a:rPr>
              <a:t>Описание алгоритма &gt;&gt; UX-дизайн &gt;&gt; Путь пользователя &gt;&gt; Перспективы &gt;&gt; Приложение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420">
                <a:solidFill>
                  <a:srgbClr val="FF9900"/>
                </a:solidFill>
              </a:rPr>
              <a:t>Описание алгоритма ранжирования</a:t>
            </a:r>
            <a:endParaRPr b="1" sz="2420">
              <a:solidFill>
                <a:srgbClr val="FF9900"/>
              </a:solidFill>
            </a:endParaRPr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920300"/>
            <a:ext cx="5309100" cy="41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3850">
                <a:solidFill>
                  <a:srgbClr val="674EA7"/>
                </a:solidFill>
              </a:rPr>
              <a:t>1. Сбор данных:</a:t>
            </a:r>
            <a:endParaRPr b="1" sz="3850">
              <a:solidFill>
                <a:srgbClr val="674EA7"/>
              </a:solidFill>
            </a:endParaRPr>
          </a:p>
          <a:p>
            <a:pPr indent="-289718" lvl="0" marL="457200" rtl="0" algn="l">
              <a:spcBef>
                <a:spcPts val="20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Arial"/>
              <a:buChar char="●"/>
            </a:pPr>
            <a:r>
              <a:rPr lang="ru" sz="3850">
                <a:solidFill>
                  <a:srgbClr val="666666"/>
                </a:solidFill>
              </a:rPr>
              <a:t>Пользователь задает начальный и конечный город, дату, дополнительные остановки.</a:t>
            </a:r>
            <a:endParaRPr sz="3850">
              <a:solidFill>
                <a:srgbClr val="666666"/>
              </a:solidFill>
            </a:endParaRPr>
          </a:p>
          <a:p>
            <a:pPr indent="-289718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Roboto"/>
              <a:buChar char="●"/>
            </a:pPr>
            <a:r>
              <a:rPr lang="ru" sz="3850">
                <a:solidFill>
                  <a:srgbClr val="666666"/>
                </a:solidFill>
              </a:rPr>
              <a:t>Для каждой пары городов (включая промежуточные остановки) запрашиваются все доступные рейсы через </a:t>
            </a:r>
            <a:r>
              <a:rPr b="1" lang="ru" sz="3850">
                <a:solidFill>
                  <a:srgbClr val="666666"/>
                </a:solidFill>
              </a:rPr>
              <a:t>API Яндекс.Расписаний</a:t>
            </a:r>
            <a:r>
              <a:rPr lang="ru" sz="3850">
                <a:solidFill>
                  <a:srgbClr val="666666"/>
                </a:solidFill>
              </a:rPr>
              <a:t>.</a:t>
            </a:r>
            <a:endParaRPr sz="3850">
              <a:solidFill>
                <a:srgbClr val="666666"/>
              </a:solidFill>
            </a:endParaRPr>
          </a:p>
          <a:p>
            <a:pPr indent="-289718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Arial"/>
              <a:buChar char="●"/>
            </a:pPr>
            <a:r>
              <a:rPr lang="ru" sz="3850">
                <a:solidFill>
                  <a:srgbClr val="666666"/>
                </a:solidFill>
              </a:rPr>
              <a:t>Каждый рейс сохраняется в датафрейм с метаданными: время отправления/прибытия, длительность, тип транспорта.</a:t>
            </a:r>
            <a:endParaRPr b="1" sz="385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3850">
                <a:solidFill>
                  <a:srgbClr val="674EA7"/>
                </a:solidFill>
              </a:rPr>
              <a:t>2. Поиск всех возможных маршрутов:</a:t>
            </a:r>
            <a:endParaRPr b="1" sz="3850">
              <a:solidFill>
                <a:srgbClr val="674EA7"/>
              </a:solidFill>
            </a:endParaRPr>
          </a:p>
          <a:p>
            <a:pPr indent="-289718" lvl="0" marL="457200" rtl="0" algn="l">
              <a:spcBef>
                <a:spcPts val="20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Roboto"/>
              <a:buChar char="●"/>
            </a:pPr>
            <a:r>
              <a:rPr lang="ru" sz="3850">
                <a:solidFill>
                  <a:srgbClr val="666666"/>
                </a:solidFill>
              </a:rPr>
              <a:t>Используется </a:t>
            </a:r>
            <a:r>
              <a:rPr b="1" lang="ru" sz="3850">
                <a:solidFill>
                  <a:srgbClr val="666666"/>
                </a:solidFill>
              </a:rPr>
              <a:t>рекурсивный алгоритм поиск в глубину DFS</a:t>
            </a:r>
            <a:r>
              <a:rPr lang="ru" sz="3850">
                <a:solidFill>
                  <a:srgbClr val="666666"/>
                </a:solidFill>
              </a:rPr>
              <a:t> (Depth-First Search) для обхода всех комбинаций рейсов между городами в заданной последовательности.</a:t>
            </a:r>
            <a:endParaRPr b="1" sz="385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3850">
                <a:solidFill>
                  <a:srgbClr val="674EA7"/>
                </a:solidFill>
              </a:rPr>
              <a:t>3. Критерии ранжирования:</a:t>
            </a:r>
            <a:endParaRPr b="1" sz="3850">
              <a:solidFill>
                <a:srgbClr val="674EA7"/>
              </a:solidFill>
            </a:endParaRPr>
          </a:p>
          <a:p>
            <a:pPr indent="-289718" lvl="0" marL="457200" rtl="0" algn="l"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ru" sz="3850">
                <a:solidFill>
                  <a:srgbClr val="666666"/>
                </a:solidFill>
              </a:rPr>
              <a:t>После получения всех маршрутов они сортируются по выбранному пользователем критерию:</a:t>
            </a:r>
            <a:endParaRPr b="1" sz="385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3850">
                <a:solidFill>
                  <a:srgbClr val="674EA7"/>
                </a:solidFill>
              </a:rPr>
              <a:t>4. Особенности алгоритма:</a:t>
            </a:r>
            <a:endParaRPr b="1" sz="3850">
              <a:solidFill>
                <a:srgbClr val="674EA7"/>
              </a:solidFill>
            </a:endParaRPr>
          </a:p>
          <a:p>
            <a:pPr indent="-289718" lvl="0" marL="457200" rtl="0" algn="l">
              <a:spcBef>
                <a:spcPts val="20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Roboto"/>
              <a:buChar char="●"/>
            </a:pPr>
            <a:r>
              <a:rPr b="1" lang="ru" sz="3850">
                <a:solidFill>
                  <a:srgbClr val="666666"/>
                </a:solidFill>
              </a:rPr>
              <a:t>Гарантированный перебор всех вариантов</a:t>
            </a:r>
            <a:r>
              <a:rPr lang="ru" sz="3850">
                <a:solidFill>
                  <a:srgbClr val="666666"/>
                </a:solidFill>
              </a:rPr>
              <a:t>: DFS исследует все возможные комбинации рейсов между городами, даже если они требуют долгого ожидания.</a:t>
            </a:r>
            <a:endParaRPr sz="3850">
              <a:solidFill>
                <a:srgbClr val="666666"/>
              </a:solidFill>
            </a:endParaRPr>
          </a:p>
          <a:p>
            <a:pPr indent="-289718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Roboto"/>
              <a:buChar char="●"/>
            </a:pPr>
            <a:r>
              <a:rPr b="1" lang="ru" sz="3850">
                <a:solidFill>
                  <a:srgbClr val="666666"/>
                </a:solidFill>
              </a:rPr>
              <a:t>Фильтрация по времени отправления</a:t>
            </a:r>
            <a:r>
              <a:rPr lang="ru" sz="3850">
                <a:solidFill>
                  <a:srgbClr val="666666"/>
                </a:solidFill>
              </a:rPr>
              <a:t>: Рейсы выбираются только те, которые отправляются </a:t>
            </a:r>
            <a:r>
              <a:rPr b="1" lang="ru" sz="3850">
                <a:solidFill>
                  <a:srgbClr val="666666"/>
                </a:solidFill>
              </a:rPr>
              <a:t>не раньше</a:t>
            </a:r>
            <a:r>
              <a:rPr lang="ru" sz="3850">
                <a:solidFill>
                  <a:srgbClr val="666666"/>
                </a:solidFill>
              </a:rPr>
              <a:t> указанной пользователем даты для каждого города.</a:t>
            </a:r>
            <a:endParaRPr sz="3850">
              <a:solidFill>
                <a:srgbClr val="666666"/>
              </a:solidFill>
            </a:endParaRPr>
          </a:p>
          <a:p>
            <a:pPr indent="-289718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Roboto"/>
              <a:buChar char="●"/>
            </a:pPr>
            <a:r>
              <a:rPr b="1" lang="ru" sz="3850">
                <a:solidFill>
                  <a:srgbClr val="666666"/>
                </a:solidFill>
              </a:rPr>
              <a:t>Локальное время</a:t>
            </a:r>
            <a:r>
              <a:rPr lang="ru" sz="3850">
                <a:solidFill>
                  <a:srgbClr val="666666"/>
                </a:solidFill>
              </a:rPr>
              <a:t>: Учитываются часовые пояса городов при выводе времени отправления/прибытия.</a:t>
            </a:r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0" y="0"/>
            <a:ext cx="929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666666"/>
                </a:solidFill>
              </a:rPr>
              <a:t>Executive summary &gt;&gt; Анализ конкурентов  &gt;&gt; </a:t>
            </a:r>
            <a:r>
              <a:rPr lang="ru" sz="1100">
                <a:solidFill>
                  <a:srgbClr val="FF9900"/>
                </a:solidFill>
              </a:rPr>
              <a:t>Описание алгоритма &gt;&gt;</a:t>
            </a:r>
            <a:r>
              <a:rPr lang="ru" sz="1100">
                <a:solidFill>
                  <a:srgbClr val="666666"/>
                </a:solidFill>
              </a:rPr>
              <a:t> UX-дизайн &gt;&gt; Путь пользователя &gt;&gt; Перспективы &gt;&gt; Приложение</a:t>
            </a:r>
            <a:endParaRPr sz="1100"/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0801" y="1609175"/>
            <a:ext cx="3334800" cy="35343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5571900" y="878675"/>
            <a:ext cx="2776200" cy="7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</a:rPr>
              <a:t>Входные данные: начальный и конечный город, дата, дополнительные остановки 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</a:rPr>
              <a:t>Выходные данные: 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324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rgbClr val="FF9900"/>
                </a:solidFill>
              </a:rPr>
              <a:t>UX-дизайн сервиса</a:t>
            </a:r>
            <a:endParaRPr b="1" sz="2400">
              <a:solidFill>
                <a:srgbClr val="FF9900"/>
              </a:solidFill>
            </a:endParaRPr>
          </a:p>
        </p:txBody>
      </p:sp>
      <p:pic>
        <p:nvPicPr>
          <p:cNvPr id="92" name="Google Shape;92;p17"/>
          <p:cNvPicPr preferRelativeResize="0"/>
          <p:nvPr/>
        </p:nvPicPr>
        <p:blipFill rotWithShape="1">
          <a:blip r:embed="rId3">
            <a:alphaModFix/>
          </a:blip>
          <a:srcRect b="35157" l="49688" r="0" t="0"/>
          <a:stretch/>
        </p:blipFill>
        <p:spPr>
          <a:xfrm>
            <a:off x="5504775" y="1681825"/>
            <a:ext cx="3639226" cy="333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 rotWithShape="1">
          <a:blip r:embed="rId4">
            <a:alphaModFix/>
          </a:blip>
          <a:srcRect b="41221" l="7038" r="53768" t="37377"/>
          <a:stretch/>
        </p:blipFill>
        <p:spPr>
          <a:xfrm>
            <a:off x="5767775" y="467513"/>
            <a:ext cx="2834773" cy="11008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/>
        </p:nvSpPr>
        <p:spPr>
          <a:xfrm>
            <a:off x="0" y="0"/>
            <a:ext cx="929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666666"/>
                </a:solidFill>
              </a:rPr>
              <a:t>Executive summary &gt;&gt; Анализ конкурентов  &gt;&gt; Описание алгоритма &gt;&gt; </a:t>
            </a:r>
            <a:r>
              <a:rPr lang="ru" sz="1100">
                <a:solidFill>
                  <a:srgbClr val="FF9900"/>
                </a:solidFill>
              </a:rPr>
              <a:t>UX-дизайн &gt;&gt;</a:t>
            </a:r>
            <a:r>
              <a:rPr lang="ru" sz="1100">
                <a:solidFill>
                  <a:srgbClr val="666666"/>
                </a:solidFill>
              </a:rPr>
              <a:t> Путь пользователя &gt;&gt; Перспективы &gt;&gt; Приложение</a:t>
            </a:r>
            <a:endParaRPr sz="1100"/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925" y="1100775"/>
            <a:ext cx="5109725" cy="3633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rgbClr val="FF9900"/>
                </a:solidFill>
              </a:rPr>
              <a:t>Описание пути пользователя</a:t>
            </a:r>
            <a:endParaRPr b="1" sz="2400">
              <a:solidFill>
                <a:srgbClr val="FF9900"/>
              </a:solidFill>
            </a:endParaRPr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448100" y="1152475"/>
            <a:ext cx="3750600" cy="36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674EA7"/>
                </a:solidFill>
              </a:rPr>
              <a:t>1. </a:t>
            </a:r>
            <a:r>
              <a:rPr b="1" lang="ru" sz="1200">
                <a:solidFill>
                  <a:srgbClr val="674EA7"/>
                </a:solidFill>
              </a:rPr>
              <a:t> </a:t>
            </a:r>
            <a:r>
              <a:rPr b="1" lang="ru" sz="1200">
                <a:solidFill>
                  <a:srgbClr val="674EA7"/>
                </a:solidFill>
              </a:rPr>
              <a:t>Ввод данных для поиска маршрута</a:t>
            </a:r>
            <a:endParaRPr b="1" sz="1200">
              <a:solidFill>
                <a:srgbClr val="674EA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666666"/>
                </a:solidFill>
              </a:rPr>
              <a:t>Пользователь вводит город отправления и город прибытия.</a:t>
            </a:r>
            <a:endParaRPr sz="11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666666"/>
                </a:solidFill>
              </a:rPr>
              <a:t>Выбирает дату отправления.</a:t>
            </a:r>
            <a:endParaRPr sz="11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666666"/>
                </a:solidFill>
              </a:rPr>
              <a:t>При необходимости добавляет промежуточную остановку, указывая город и дату отъезда.</a:t>
            </a:r>
            <a:endParaRPr sz="11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674EA7"/>
                </a:solidFill>
              </a:rPr>
              <a:t>2. </a:t>
            </a:r>
            <a:r>
              <a:rPr b="1" lang="ru" sz="1200">
                <a:solidFill>
                  <a:srgbClr val="674EA7"/>
                </a:solidFill>
              </a:rPr>
              <a:t>Настройка параметров поиска</a:t>
            </a:r>
            <a:endParaRPr b="1" sz="1200">
              <a:solidFill>
                <a:srgbClr val="674E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666666"/>
                </a:solidFill>
              </a:rPr>
              <a:t>Пользователь может нажать на кнопку </a:t>
            </a:r>
            <a:r>
              <a:rPr b="1" lang="ru" sz="1100">
                <a:solidFill>
                  <a:srgbClr val="666666"/>
                </a:solidFill>
              </a:rPr>
              <a:t>«Фильтр»</a:t>
            </a:r>
            <a:r>
              <a:rPr lang="ru" sz="1100">
                <a:solidFill>
                  <a:srgbClr val="666666"/>
                </a:solidFill>
              </a:rPr>
              <a:t> и выбрать критерии маршрута (стоимость, минимальное время, количество пересадок и т. д.).</a:t>
            </a:r>
            <a:endParaRPr sz="11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666666"/>
                </a:solidFill>
              </a:rPr>
              <a:t>После ввода данных нажимает кнопку </a:t>
            </a:r>
            <a:r>
              <a:rPr b="1" lang="ru" sz="1100">
                <a:solidFill>
                  <a:srgbClr val="666666"/>
                </a:solidFill>
              </a:rPr>
              <a:t>«Найти»</a:t>
            </a:r>
            <a:r>
              <a:rPr lang="ru" sz="1100">
                <a:solidFill>
                  <a:srgbClr val="666666"/>
                </a:solidFill>
              </a:rPr>
              <a:t>.</a:t>
            </a:r>
            <a:endParaRPr sz="11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674EA7"/>
                </a:solidFill>
              </a:rPr>
              <a:t>3. </a:t>
            </a:r>
            <a:r>
              <a:rPr b="1" lang="ru" sz="1200">
                <a:solidFill>
                  <a:srgbClr val="674EA7"/>
                </a:solidFill>
              </a:rPr>
              <a:t>Просмотр предложенных маршрутов</a:t>
            </a:r>
            <a:endParaRPr b="1" sz="1200">
              <a:solidFill>
                <a:srgbClr val="674E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666666"/>
                </a:solidFill>
              </a:rPr>
              <a:t>Сервис отображает найденные маршруты с деталями (время отправления/прибытия, пересадки, тип транспорта).</a:t>
            </a:r>
            <a:endParaRPr sz="11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666666"/>
                </a:solidFill>
              </a:rPr>
              <a:t>Визуальное представление маршрута показывает связь между точками отправления, остановками и конечным пунктом.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4481075" y="1197725"/>
            <a:ext cx="4023300" cy="36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3572"/>
              <a:buFont typeface="Arial"/>
              <a:buNone/>
            </a:pPr>
            <a:r>
              <a:rPr b="1" lang="ru" sz="1316">
                <a:solidFill>
                  <a:srgbClr val="674EA7"/>
                </a:solidFill>
              </a:rPr>
              <a:t>4. </a:t>
            </a:r>
            <a:r>
              <a:rPr b="1" lang="ru" sz="1316">
                <a:solidFill>
                  <a:srgbClr val="674EA7"/>
                </a:solidFill>
              </a:rPr>
              <a:t>Выбор подходящего маршрута</a:t>
            </a:r>
            <a:endParaRPr b="1" sz="1316">
              <a:solidFill>
                <a:srgbClr val="674E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666666"/>
                </a:solidFill>
              </a:rPr>
              <a:t>Пользователь анализирует предложенные варианты, ориентируясь на время в пути, пересадки и тип транспорта.</a:t>
            </a:r>
            <a:endParaRPr sz="11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666666"/>
                </a:solidFill>
              </a:rPr>
              <a:t>Может изменить фильтры и выполнить новый поиск.</a:t>
            </a:r>
            <a:endParaRPr sz="11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3572"/>
              <a:buFont typeface="Arial"/>
              <a:buNone/>
            </a:pPr>
            <a:r>
              <a:rPr b="1" lang="ru" sz="1316">
                <a:solidFill>
                  <a:srgbClr val="674EA7"/>
                </a:solidFill>
              </a:rPr>
              <a:t>5. </a:t>
            </a:r>
            <a:r>
              <a:rPr b="1" lang="ru" sz="1316">
                <a:solidFill>
                  <a:srgbClr val="674EA7"/>
                </a:solidFill>
              </a:rPr>
              <a:t>Детализация маршрута</a:t>
            </a:r>
            <a:endParaRPr b="1" sz="1316">
              <a:solidFill>
                <a:srgbClr val="674E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666666"/>
                </a:solidFill>
              </a:rPr>
              <a:t>Внизу страницы отображается </a:t>
            </a:r>
            <a:r>
              <a:rPr b="1" lang="ru" sz="1100">
                <a:solidFill>
                  <a:srgbClr val="666666"/>
                </a:solidFill>
              </a:rPr>
              <a:t>«Информация о пути»</a:t>
            </a:r>
            <a:r>
              <a:rPr lang="ru" sz="1100">
                <a:solidFill>
                  <a:srgbClr val="666666"/>
                </a:solidFill>
              </a:rPr>
              <a:t>, где указывается:</a:t>
            </a:r>
            <a:endParaRPr sz="1100">
              <a:solidFill>
                <a:srgbClr val="666666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-"/>
            </a:pPr>
            <a:r>
              <a:rPr lang="ru" sz="1100">
                <a:solidFill>
                  <a:srgbClr val="666666"/>
                </a:solidFill>
              </a:rPr>
              <a:t>Общее время в пути</a:t>
            </a:r>
            <a:endParaRPr sz="1100">
              <a:solidFill>
                <a:srgbClr val="666666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-"/>
            </a:pPr>
            <a:r>
              <a:rPr lang="ru" sz="1100">
                <a:solidFill>
                  <a:srgbClr val="666666"/>
                </a:solidFill>
              </a:rPr>
              <a:t>Чистое время в дороге</a:t>
            </a:r>
            <a:endParaRPr sz="1100">
              <a:solidFill>
                <a:srgbClr val="666666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-"/>
            </a:pPr>
            <a:r>
              <a:rPr lang="ru" sz="1100">
                <a:solidFill>
                  <a:srgbClr val="666666"/>
                </a:solidFill>
              </a:rPr>
              <a:t>Время остановки в промежуточных городах</a:t>
            </a:r>
            <a:endParaRPr sz="11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666666"/>
                </a:solidFill>
              </a:rPr>
              <a:t>Пользователь видит все необходимые детали перед принятием решения.</a:t>
            </a:r>
            <a:endParaRPr sz="11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3572"/>
              <a:buFont typeface="Arial"/>
              <a:buNone/>
            </a:pPr>
            <a:r>
              <a:rPr b="1" lang="ru" sz="1316">
                <a:solidFill>
                  <a:srgbClr val="674EA7"/>
                </a:solidFill>
              </a:rPr>
              <a:t>6. </a:t>
            </a:r>
            <a:r>
              <a:rPr b="1" lang="ru" sz="1316">
                <a:solidFill>
                  <a:srgbClr val="674EA7"/>
                </a:solidFill>
              </a:rPr>
              <a:t>Переход к бронированию или сохранению маршрута</a:t>
            </a:r>
            <a:endParaRPr b="1" sz="1316">
              <a:solidFill>
                <a:srgbClr val="674E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666666"/>
                </a:solidFill>
              </a:rPr>
              <a:t>После выбора маршрута пользователь может:</a:t>
            </a:r>
            <a:endParaRPr sz="1100">
              <a:solidFill>
                <a:srgbClr val="666666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-"/>
            </a:pPr>
            <a:r>
              <a:rPr lang="ru" sz="1100">
                <a:solidFill>
                  <a:srgbClr val="666666"/>
                </a:solidFill>
              </a:rPr>
              <a:t>Перейти к покупке билетов (если функция доступна).</a:t>
            </a:r>
            <a:endParaRPr sz="1100">
              <a:solidFill>
                <a:srgbClr val="666666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-"/>
            </a:pPr>
            <a:r>
              <a:rPr lang="ru" sz="1100">
                <a:solidFill>
                  <a:srgbClr val="666666"/>
                </a:solidFill>
              </a:rPr>
              <a:t>Сохранить маршрут для дальнейшего использования.</a:t>
            </a:r>
            <a:endParaRPr sz="1100">
              <a:solidFill>
                <a:srgbClr val="666666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1200"/>
              </a:spcAft>
              <a:buClr>
                <a:srgbClr val="666666"/>
              </a:buClr>
              <a:buSzPct val="100000"/>
              <a:buChar char="-"/>
            </a:pPr>
            <a:r>
              <a:rPr lang="ru" sz="1100">
                <a:solidFill>
                  <a:srgbClr val="666666"/>
                </a:solidFill>
              </a:rPr>
              <a:t>Поделиться маршрутом (например, отправить в мессенджер).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0" y="0"/>
            <a:ext cx="929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666666"/>
                </a:solidFill>
              </a:rPr>
              <a:t>Executive summary &gt;&gt; Анализ конкурентов  &gt;&gt; Описание алгоритма &gt;&gt; UX-дизайн &gt;&gt; </a:t>
            </a:r>
            <a:r>
              <a:rPr lang="ru" sz="1100">
                <a:solidFill>
                  <a:srgbClr val="FF9900"/>
                </a:solidFill>
              </a:rPr>
              <a:t>Путь пользователя &gt;&gt; </a:t>
            </a:r>
            <a:r>
              <a:rPr lang="ru" sz="1100">
                <a:solidFill>
                  <a:srgbClr val="666666"/>
                </a:solidFill>
              </a:rPr>
              <a:t>Перспективы &gt;&gt; Приложение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rgbClr val="FF9900"/>
                </a:solidFill>
              </a:rPr>
              <a:t>Перспективы</a:t>
            </a:r>
            <a:endParaRPr b="1" sz="2400">
              <a:solidFill>
                <a:srgbClr val="FF9900"/>
              </a:solidFill>
            </a:endParaRPr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AutoNum type="arabicPeriod"/>
            </a:pPr>
            <a:r>
              <a:rPr lang="ru" sz="1200">
                <a:solidFill>
                  <a:srgbClr val="666666"/>
                </a:solidFill>
              </a:rPr>
              <a:t>Добавить приоритетную очередь (например, алгоритм Дейкстры) для поиска оптимальных маршрутов.</a:t>
            </a:r>
            <a:endParaRPr sz="1200">
              <a:solidFill>
                <a:srgbClr val="666666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AutoNum type="arabicPeriod"/>
            </a:pPr>
            <a:r>
              <a:rPr lang="ru" sz="1200">
                <a:solidFill>
                  <a:srgbClr val="666666"/>
                </a:solidFill>
              </a:rPr>
              <a:t>Ввести весовые коэффициенты для разных типов транспорта (</a:t>
            </a:r>
            <a:r>
              <a:rPr lang="ru" sz="1200">
                <a:solidFill>
                  <a:srgbClr val="666666"/>
                </a:solidFill>
              </a:rPr>
              <a:t>приоритезация одних видов транспорта над другими при выборе оптимального маршрута.)</a:t>
            </a:r>
            <a:endParaRPr sz="1200">
              <a:solidFill>
                <a:srgbClr val="666666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AutoNum type="arabicPeriod"/>
            </a:pPr>
            <a:r>
              <a:rPr lang="ru" sz="1200">
                <a:solidFill>
                  <a:srgbClr val="666666"/>
                </a:solidFill>
              </a:rPr>
              <a:t>Учесть стоимость билетов как дополнительный критерий сортировки, для этого парсить данные о ценах у партнёров, например, Яндекс.Путешествия, Авиасейлз, РЖД </a:t>
            </a:r>
            <a:endParaRPr sz="1200">
              <a:solidFill>
                <a:srgbClr val="666666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AutoNum type="arabicPeriod"/>
            </a:pPr>
            <a:r>
              <a:rPr lang="ru" sz="1200">
                <a:solidFill>
                  <a:srgbClr val="666666"/>
                </a:solidFill>
              </a:rPr>
              <a:t>Использовать API Яндекс.Карты для точного расчёта времени в крупных городах при перемещении между аэропортами/вокзалами</a:t>
            </a:r>
            <a:endParaRPr sz="1200">
              <a:solidFill>
                <a:srgbClr val="666666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AutoNum type="arabicPeriod"/>
            </a:pPr>
            <a:r>
              <a:rPr lang="ru" sz="1200">
                <a:solidFill>
                  <a:srgbClr val="666666"/>
                </a:solidFill>
              </a:rPr>
              <a:t>Учитывать наличие не </a:t>
            </a:r>
            <a:r>
              <a:rPr lang="ru" sz="1200">
                <a:solidFill>
                  <a:srgbClr val="666666"/>
                </a:solidFill>
              </a:rPr>
              <a:t>прямых</a:t>
            </a:r>
            <a:r>
              <a:rPr lang="ru" sz="1200">
                <a:solidFill>
                  <a:srgbClr val="666666"/>
                </a:solidFill>
              </a:rPr>
              <a:t> рейсов между </a:t>
            </a:r>
            <a:r>
              <a:rPr lang="ru" sz="1200">
                <a:solidFill>
                  <a:srgbClr val="666666"/>
                </a:solidFill>
              </a:rPr>
              <a:t>населенными</a:t>
            </a:r>
            <a:r>
              <a:rPr lang="ru" sz="1200">
                <a:solidFill>
                  <a:srgbClr val="666666"/>
                </a:solidFill>
              </a:rPr>
              <a:t> пунктами.</a:t>
            </a:r>
            <a:endParaRPr sz="1200">
              <a:solidFill>
                <a:srgbClr val="666666"/>
              </a:solidFill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0" y="0"/>
            <a:ext cx="929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666666"/>
                </a:solidFill>
              </a:rPr>
              <a:t>Executive summary &gt;&gt; Анализ конкурентов  &gt;&gt; Описание алгоритма &gt;&gt; UX-дизайн &gt;&gt; Путь пользователя &gt;&gt; </a:t>
            </a:r>
            <a:r>
              <a:rPr lang="ru" sz="1100">
                <a:solidFill>
                  <a:srgbClr val="FF9900"/>
                </a:solidFill>
              </a:rPr>
              <a:t>Перспективы &gt;&gt;</a:t>
            </a:r>
            <a:r>
              <a:rPr lang="ru" sz="1100">
                <a:solidFill>
                  <a:srgbClr val="666666"/>
                </a:solidFill>
              </a:rPr>
              <a:t> Приложение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rgbClr val="FF9900"/>
                </a:solidFill>
              </a:rPr>
              <a:t>Приложение: </a:t>
            </a:r>
            <a:endParaRPr b="1" sz="2400">
              <a:solidFill>
                <a:srgbClr val="FF9900"/>
              </a:solidFill>
            </a:endParaRPr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Github: </a:t>
            </a:r>
            <a:r>
              <a:rPr lang="ru" u="sng">
                <a:solidFill>
                  <a:schemeClr val="hlink"/>
                </a:solidFill>
                <a:hlinkClick r:id="rId3"/>
              </a:rPr>
              <a:t>https://github.com/sofa-frog/Anexis_CUP_IT/tree/main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Figma: </a:t>
            </a:r>
            <a:r>
              <a:rPr lang="ru" u="sng">
                <a:solidFill>
                  <a:schemeClr val="hlink"/>
                </a:solidFill>
                <a:hlinkClick r:id="rId4"/>
              </a:rPr>
              <a:t>https://www.figma.com/design/XghsSWowfyFWObTQO0OXUo/Axenix_CUP_IT_2025?node-id=0-1&amp;m=dev&amp;t=PSQCBApE14obdhgO-1</a:t>
            </a:r>
            <a:endParaRPr/>
          </a:p>
        </p:txBody>
      </p:sp>
      <p:sp>
        <p:nvSpPr>
          <p:cNvPr id="117" name="Google Shape;117;p20"/>
          <p:cNvSpPr txBox="1"/>
          <p:nvPr/>
        </p:nvSpPr>
        <p:spPr>
          <a:xfrm>
            <a:off x="0" y="0"/>
            <a:ext cx="929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666666"/>
                </a:solidFill>
              </a:rPr>
              <a:t>Executive summary &gt;&gt; Анализ конкурентов  &gt;&gt; Описание алгоритма &gt;&gt; UX-дизайн &gt;&gt; Путь пользователя &gt;&gt; Перспективы &gt;&gt; </a:t>
            </a:r>
            <a:r>
              <a:rPr lang="ru" sz="1100">
                <a:solidFill>
                  <a:srgbClr val="FF9900"/>
                </a:solidFill>
              </a:rPr>
              <a:t>Приложение</a:t>
            </a:r>
            <a:endParaRPr sz="11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